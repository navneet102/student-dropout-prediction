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66" r:id="rId5"/>
    <p:sldId id="259" r:id="rId6"/>
    <p:sldId id="260" r:id="rId7"/>
    <p:sldId id="261" r:id="rId8"/>
    <p:sldId id="262" r:id="rId9"/>
    <p:sldId id="263" r:id="rId10"/>
    <p:sldId id="267" r:id="rId11"/>
    <p:sldId id="264" r:id="rId12"/>
    <p:sldId id="265" r:id="rId13"/>
  </p:sldIdLst>
  <p:sldSz cx="14630400" cy="8229600"/>
  <p:notesSz cx="8229600" cy="14630400"/>
  <p:embeddedFontLst>
    <p:embeddedFont>
      <p:font typeface="Host Grotesk Medium" panose="020B0604020202020204" charset="0"/>
      <p:regular r:id="rId15"/>
    </p:embeddedFont>
    <p:embeddedFont>
      <p:font typeface="Roboto" panose="02000000000000000000" pitchFamily="2"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9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3" d="100"/>
          <a:sy n="53" d="100"/>
        </p:scale>
        <p:origin x="74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9687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rgbClr val="FAF9F5"/>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svg"/><Relationship Id="rId2" Type="http://schemas.openxmlformats.org/officeDocument/2006/relationships/notesSlide" Target="../notesSlides/notesSlide6.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2" name="Text 0"/>
          <p:cNvSpPr/>
          <p:nvPr/>
        </p:nvSpPr>
        <p:spPr>
          <a:xfrm>
            <a:off x="793790" y="2700933"/>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Student Dropout Prediction: A Supervised Learning Approach</a:t>
            </a:r>
            <a:endParaRPr lang="en-US" sz="3900" dirty="0"/>
          </a:p>
        </p:txBody>
      </p:sp>
      <p:sp>
        <p:nvSpPr>
          <p:cNvPr id="3" name="Text 1"/>
          <p:cNvSpPr/>
          <p:nvPr/>
        </p:nvSpPr>
        <p:spPr>
          <a:xfrm>
            <a:off x="793790" y="4337923"/>
            <a:ext cx="13042821"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This project addresses the critical issue of student attrition in higher education by developing a predictive model to identify at-risk students early in their academic journey. The dataset comprises 4,424 unique student observations, each described by 35 distinct features encompassing academic, demographic, and socio-economic variables. The primary goal is to leverage supervised machine learning classifiers to distinguish between students who will graduate, drop out, or remain enrolled.</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93790" y="898684"/>
            <a:ext cx="10214491"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Exploratory Data Analysis: Target Distribution</a:t>
            </a:r>
            <a:endParaRPr lang="en-US" sz="3900" dirty="0"/>
          </a:p>
        </p:txBody>
      </p:sp>
      <p:sp>
        <p:nvSpPr>
          <p:cNvPr id="3" name="Text 1"/>
          <p:cNvSpPr/>
          <p:nvPr/>
        </p:nvSpPr>
        <p:spPr>
          <a:xfrm>
            <a:off x="1664256" y="3205520"/>
            <a:ext cx="2441138" cy="496133"/>
          </a:xfrm>
          <a:prstGeom prst="rect">
            <a:avLst/>
          </a:prstGeom>
          <a:noFill/>
          <a:ln/>
        </p:spPr>
        <p:txBody>
          <a:bodyPr wrap="none" lIns="0" tIns="0" rIns="0" bIns="0" rtlCol="0" anchor="t"/>
          <a:lstStyle/>
          <a:p>
            <a:pPr marL="0" indent="0" algn="ctr">
              <a:lnSpc>
                <a:spcPts val="3900"/>
              </a:lnSpc>
              <a:buNone/>
            </a:pPr>
            <a:r>
              <a:rPr lang="en-US" sz="3900" dirty="0">
                <a:solidFill>
                  <a:srgbClr val="384653"/>
                </a:solidFill>
                <a:latin typeface="Host Grotesk Medium" pitchFamily="34" charset="0"/>
                <a:ea typeface="Host Grotesk Medium" pitchFamily="34" charset="-122"/>
                <a:cs typeface="Host Grotesk Medium" pitchFamily="34" charset="-120"/>
              </a:rPr>
              <a:t>49.9%</a:t>
            </a:r>
            <a:endParaRPr lang="en-US" sz="3900" dirty="0"/>
          </a:p>
        </p:txBody>
      </p:sp>
      <p:pic>
        <p:nvPicPr>
          <p:cNvPr id="4" name="Image 0" descr="preencoded.png"/>
          <p:cNvPicPr>
            <a:picLocks noChangeAspect="1"/>
          </p:cNvPicPr>
          <p:nvPr/>
        </p:nvPicPr>
        <p:blipFill>
          <a:blip r:embed="rId3"/>
          <a:stretch>
            <a:fillRect/>
          </a:stretch>
        </p:blipFill>
        <p:spPr>
          <a:xfrm>
            <a:off x="1396365" y="1965127"/>
            <a:ext cx="2977039" cy="2977039"/>
          </a:xfrm>
          <a:prstGeom prst="rect">
            <a:avLst/>
          </a:prstGeom>
        </p:spPr>
      </p:pic>
      <p:sp>
        <p:nvSpPr>
          <p:cNvPr id="5" name="Text 2"/>
          <p:cNvSpPr/>
          <p:nvPr/>
        </p:nvSpPr>
        <p:spPr>
          <a:xfrm>
            <a:off x="1644372" y="519005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Graduation Rate</a:t>
            </a:r>
            <a:endParaRPr lang="en-US" sz="1950" dirty="0"/>
          </a:p>
        </p:txBody>
      </p:sp>
      <p:sp>
        <p:nvSpPr>
          <p:cNvPr id="6" name="Text 3"/>
          <p:cNvSpPr/>
          <p:nvPr/>
        </p:nvSpPr>
        <p:spPr>
          <a:xfrm>
            <a:off x="793790" y="5619274"/>
            <a:ext cx="4182189" cy="595313"/>
          </a:xfrm>
          <a:prstGeom prst="rect">
            <a:avLst/>
          </a:prstGeom>
          <a:noFill/>
          <a:ln/>
        </p:spPr>
        <p:txBody>
          <a:bodyPr wrap="square" lIns="0" tIns="0" rIns="0" bIns="0" rtlCol="0" anchor="t"/>
          <a:lstStyle/>
          <a:p>
            <a:pPr marL="0" indent="0" algn="ctr">
              <a:lnSpc>
                <a:spcPts val="2300"/>
              </a:lnSpc>
              <a:buNone/>
            </a:pPr>
            <a:r>
              <a:rPr lang="en-US" sz="1550" dirty="0">
                <a:solidFill>
                  <a:srgbClr val="384653"/>
                </a:solidFill>
                <a:latin typeface="Roboto" pitchFamily="34" charset="0"/>
                <a:ea typeface="Roboto" pitchFamily="34" charset="-122"/>
                <a:cs typeface="Roboto" pitchFamily="34" charset="-120"/>
              </a:rPr>
              <a:t>Students who successfully complete their degree programs</a:t>
            </a:r>
            <a:endParaRPr lang="en-US" sz="1550" dirty="0"/>
          </a:p>
        </p:txBody>
      </p:sp>
      <p:sp>
        <p:nvSpPr>
          <p:cNvPr id="7" name="Text 4"/>
          <p:cNvSpPr/>
          <p:nvPr/>
        </p:nvSpPr>
        <p:spPr>
          <a:xfrm>
            <a:off x="6094452" y="3205520"/>
            <a:ext cx="2441138" cy="496133"/>
          </a:xfrm>
          <a:prstGeom prst="rect">
            <a:avLst/>
          </a:prstGeom>
          <a:noFill/>
          <a:ln/>
        </p:spPr>
        <p:txBody>
          <a:bodyPr wrap="none" lIns="0" tIns="0" rIns="0" bIns="0" rtlCol="0" anchor="t"/>
          <a:lstStyle/>
          <a:p>
            <a:pPr marL="0" indent="0" algn="ctr">
              <a:lnSpc>
                <a:spcPts val="3900"/>
              </a:lnSpc>
              <a:buNone/>
            </a:pPr>
            <a:r>
              <a:rPr lang="en-US" sz="3900" dirty="0">
                <a:solidFill>
                  <a:srgbClr val="384653"/>
                </a:solidFill>
                <a:latin typeface="Host Grotesk Medium" pitchFamily="34" charset="0"/>
                <a:ea typeface="Host Grotesk Medium" pitchFamily="34" charset="-122"/>
                <a:cs typeface="Host Grotesk Medium" pitchFamily="34" charset="-120"/>
              </a:rPr>
              <a:t>32.1%</a:t>
            </a:r>
            <a:endParaRPr lang="en-US" sz="3900" dirty="0"/>
          </a:p>
        </p:txBody>
      </p:sp>
      <p:pic>
        <p:nvPicPr>
          <p:cNvPr id="8" name="Image 1" descr="preencoded.png"/>
          <p:cNvPicPr>
            <a:picLocks noChangeAspect="1"/>
          </p:cNvPicPr>
          <p:nvPr/>
        </p:nvPicPr>
        <p:blipFill>
          <a:blip r:embed="rId4"/>
          <a:stretch>
            <a:fillRect/>
          </a:stretch>
        </p:blipFill>
        <p:spPr>
          <a:xfrm>
            <a:off x="5826562" y="1965127"/>
            <a:ext cx="2977039" cy="2977039"/>
          </a:xfrm>
          <a:prstGeom prst="rect">
            <a:avLst/>
          </a:prstGeom>
        </p:spPr>
      </p:pic>
      <p:sp>
        <p:nvSpPr>
          <p:cNvPr id="9" name="Text 5"/>
          <p:cNvSpPr/>
          <p:nvPr/>
        </p:nvSpPr>
        <p:spPr>
          <a:xfrm>
            <a:off x="6074688" y="519005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Dropout Rate</a:t>
            </a:r>
            <a:endParaRPr lang="en-US" sz="1950" dirty="0"/>
          </a:p>
        </p:txBody>
      </p:sp>
      <p:sp>
        <p:nvSpPr>
          <p:cNvPr id="10" name="Text 6"/>
          <p:cNvSpPr/>
          <p:nvPr/>
        </p:nvSpPr>
        <p:spPr>
          <a:xfrm>
            <a:off x="5223986" y="5619274"/>
            <a:ext cx="4182308" cy="595313"/>
          </a:xfrm>
          <a:prstGeom prst="rect">
            <a:avLst/>
          </a:prstGeom>
          <a:noFill/>
          <a:ln/>
        </p:spPr>
        <p:txBody>
          <a:bodyPr wrap="square" lIns="0" tIns="0" rIns="0" bIns="0" rtlCol="0" anchor="t"/>
          <a:lstStyle/>
          <a:p>
            <a:pPr marL="0" indent="0" algn="ctr">
              <a:lnSpc>
                <a:spcPts val="2300"/>
              </a:lnSpc>
              <a:buNone/>
            </a:pPr>
            <a:r>
              <a:rPr lang="en-US" sz="1550" dirty="0">
                <a:solidFill>
                  <a:srgbClr val="384653"/>
                </a:solidFill>
                <a:latin typeface="Roboto" pitchFamily="34" charset="0"/>
                <a:ea typeface="Roboto" pitchFamily="34" charset="-122"/>
                <a:cs typeface="Roboto" pitchFamily="34" charset="-120"/>
              </a:rPr>
              <a:t>Students who leave without completing their studies</a:t>
            </a:r>
            <a:endParaRPr lang="en-US" sz="1550" dirty="0"/>
          </a:p>
        </p:txBody>
      </p:sp>
      <p:sp>
        <p:nvSpPr>
          <p:cNvPr id="11" name="Text 7"/>
          <p:cNvSpPr/>
          <p:nvPr/>
        </p:nvSpPr>
        <p:spPr>
          <a:xfrm>
            <a:off x="10524768" y="3205520"/>
            <a:ext cx="2441138" cy="496133"/>
          </a:xfrm>
          <a:prstGeom prst="rect">
            <a:avLst/>
          </a:prstGeom>
          <a:noFill/>
          <a:ln/>
        </p:spPr>
        <p:txBody>
          <a:bodyPr wrap="none" lIns="0" tIns="0" rIns="0" bIns="0" rtlCol="0" anchor="t"/>
          <a:lstStyle/>
          <a:p>
            <a:pPr marL="0" indent="0" algn="ctr">
              <a:lnSpc>
                <a:spcPts val="3900"/>
              </a:lnSpc>
              <a:buNone/>
            </a:pPr>
            <a:r>
              <a:rPr lang="en-US" sz="3900" dirty="0">
                <a:solidFill>
                  <a:srgbClr val="384653"/>
                </a:solidFill>
                <a:latin typeface="Host Grotesk Medium" pitchFamily="34" charset="0"/>
                <a:ea typeface="Host Grotesk Medium" pitchFamily="34" charset="-122"/>
                <a:cs typeface="Host Grotesk Medium" pitchFamily="34" charset="-120"/>
              </a:rPr>
              <a:t>17.9%</a:t>
            </a:r>
            <a:endParaRPr lang="en-US" sz="3900" dirty="0"/>
          </a:p>
        </p:txBody>
      </p:sp>
      <p:pic>
        <p:nvPicPr>
          <p:cNvPr id="12" name="Image 2" descr="preencoded.png"/>
          <p:cNvPicPr>
            <a:picLocks noChangeAspect="1"/>
          </p:cNvPicPr>
          <p:nvPr/>
        </p:nvPicPr>
        <p:blipFill>
          <a:blip r:embed="rId5"/>
          <a:stretch>
            <a:fillRect/>
          </a:stretch>
        </p:blipFill>
        <p:spPr>
          <a:xfrm>
            <a:off x="10256877" y="1965127"/>
            <a:ext cx="2977039" cy="2977039"/>
          </a:xfrm>
          <a:prstGeom prst="rect">
            <a:avLst/>
          </a:prstGeom>
        </p:spPr>
      </p:pic>
      <p:sp>
        <p:nvSpPr>
          <p:cNvPr id="13" name="Text 8"/>
          <p:cNvSpPr/>
          <p:nvPr/>
        </p:nvSpPr>
        <p:spPr>
          <a:xfrm>
            <a:off x="10505003" y="519005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Currently Enrolled</a:t>
            </a:r>
            <a:endParaRPr lang="en-US" sz="1950" dirty="0"/>
          </a:p>
        </p:txBody>
      </p:sp>
      <p:sp>
        <p:nvSpPr>
          <p:cNvPr id="14" name="Text 9"/>
          <p:cNvSpPr/>
          <p:nvPr/>
        </p:nvSpPr>
        <p:spPr>
          <a:xfrm>
            <a:off x="9654302" y="5619274"/>
            <a:ext cx="4182308" cy="595313"/>
          </a:xfrm>
          <a:prstGeom prst="rect">
            <a:avLst/>
          </a:prstGeom>
          <a:noFill/>
          <a:ln/>
        </p:spPr>
        <p:txBody>
          <a:bodyPr wrap="square" lIns="0" tIns="0" rIns="0" bIns="0" rtlCol="0" anchor="t"/>
          <a:lstStyle/>
          <a:p>
            <a:pPr marL="0" indent="0" algn="ctr">
              <a:lnSpc>
                <a:spcPts val="2300"/>
              </a:lnSpc>
              <a:buNone/>
            </a:pPr>
            <a:r>
              <a:rPr lang="en-US" sz="1550" dirty="0">
                <a:solidFill>
                  <a:srgbClr val="384653"/>
                </a:solidFill>
                <a:latin typeface="Roboto" pitchFamily="34" charset="0"/>
                <a:ea typeface="Roboto" pitchFamily="34" charset="-122"/>
                <a:cs typeface="Roboto" pitchFamily="34" charset="-120"/>
              </a:rPr>
              <a:t>Students where predictions are most actionable</a:t>
            </a:r>
            <a:endParaRPr lang="en-US" sz="1550" dirty="0"/>
          </a:p>
        </p:txBody>
      </p:sp>
      <p:sp>
        <p:nvSpPr>
          <p:cNvPr id="15" name="Text 10"/>
          <p:cNvSpPr/>
          <p:nvPr/>
        </p:nvSpPr>
        <p:spPr>
          <a:xfrm>
            <a:off x="793790" y="6437828"/>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Analysis of the target variable reveals a distribution that reflects real-world higher education challenges. The dropout rate of 32.1% represents a significant portion of the cohort that requires targeted intervention. The currently enrolled students make up the remaining 17.9% of the dataset, representing the group where predictions are most actionable and where early intervention strategies can have the greatest impact.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1793081"/>
            <a:ext cx="10444639"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EDA: Demographic Insights - Gender and Age</a:t>
            </a:r>
            <a:endParaRPr lang="en-US" sz="3900" dirty="0"/>
          </a:p>
        </p:txBody>
      </p:sp>
      <p:sp>
        <p:nvSpPr>
          <p:cNvPr id="3" name="Text 1"/>
          <p:cNvSpPr/>
          <p:nvPr/>
        </p:nvSpPr>
        <p:spPr>
          <a:xfrm>
            <a:off x="793790" y="29091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Gender Distribution</a:t>
            </a:r>
            <a:endParaRPr lang="en-US" sz="1950" dirty="0"/>
          </a:p>
        </p:txBody>
      </p:sp>
      <p:sp>
        <p:nvSpPr>
          <p:cNvPr id="4" name="Text 2"/>
          <p:cNvSpPr/>
          <p:nvPr/>
        </p:nvSpPr>
        <p:spPr>
          <a:xfrm>
            <a:off x="793790" y="3417689"/>
            <a:ext cx="6279356"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The student body is predominantly female, accounting for 64.8% of total enrollments compared to 35.2% for males.</a:t>
            </a:r>
            <a:endParaRPr lang="en-US" sz="1550" dirty="0"/>
          </a:p>
        </p:txBody>
      </p:sp>
      <p:sp>
        <p:nvSpPr>
          <p:cNvPr id="5" name="Text 3"/>
          <p:cNvSpPr/>
          <p:nvPr/>
        </p:nvSpPr>
        <p:spPr>
          <a:xfrm>
            <a:off x="7564874" y="2909173"/>
            <a:ext cx="3430191" cy="310158"/>
          </a:xfrm>
          <a:prstGeom prst="rect">
            <a:avLst/>
          </a:prstGeom>
          <a:noFill/>
          <a:ln/>
        </p:spPr>
        <p:txBody>
          <a:bodyPr wrap="none" lIns="0" tIns="0" rIns="0" bIns="0" rtlCol="0" anchor="t"/>
          <a:lstStyle/>
          <a:p>
            <a:pPr marL="0" indent="0" algn="l">
              <a:lnSpc>
                <a:spcPts val="2400"/>
              </a:lnSpc>
              <a:buNone/>
            </a:pPr>
            <a:r>
              <a:rPr lang="en-US" sz="1950" dirty="0">
                <a:solidFill>
                  <a:srgbClr val="2E3C4E"/>
                </a:solidFill>
                <a:latin typeface="Host Grotesk Medium" pitchFamily="34" charset="0"/>
                <a:ea typeface="Host Grotesk Medium" pitchFamily="34" charset="-122"/>
                <a:cs typeface="Host Grotesk Medium" pitchFamily="34" charset="-120"/>
              </a:rPr>
              <a:t>Gender Disparity in Outcomes</a:t>
            </a:r>
            <a:endParaRPr lang="en-US" sz="1950" dirty="0"/>
          </a:p>
        </p:txBody>
      </p:sp>
      <p:sp>
        <p:nvSpPr>
          <p:cNvPr id="6" name="Text 4"/>
          <p:cNvSpPr/>
          <p:nvPr/>
        </p:nvSpPr>
        <p:spPr>
          <a:xfrm>
            <a:off x="7564874" y="3417689"/>
            <a:ext cx="6279356"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There is a clear gender disparity in outcomes: male students exhibit a significantly higher dropout rate of 45.1%, compared to 25.1% for females.</a:t>
            </a:r>
            <a:endParaRPr lang="en-US" sz="1550" dirty="0"/>
          </a:p>
        </p:txBody>
      </p:sp>
      <p:sp>
        <p:nvSpPr>
          <p:cNvPr id="7" name="Shape 5"/>
          <p:cNvSpPr/>
          <p:nvPr/>
        </p:nvSpPr>
        <p:spPr>
          <a:xfrm>
            <a:off x="793790" y="4811673"/>
            <a:ext cx="5496282" cy="248007"/>
          </a:xfrm>
          <a:prstGeom prst="roundRect">
            <a:avLst>
              <a:gd name="adj" fmla="val 33612"/>
            </a:avLst>
          </a:prstGeom>
          <a:solidFill>
            <a:srgbClr val="D9EDF2"/>
          </a:solidFill>
          <a:ln w="7620">
            <a:solidFill>
              <a:srgbClr val="BFD3D8"/>
            </a:solidFill>
            <a:prstDash val="solid"/>
          </a:ln>
        </p:spPr>
      </p:sp>
      <p:pic>
        <p:nvPicPr>
          <p:cNvPr id="8" name="Image 0" descr="preencoded.png"/>
          <p:cNvPicPr>
            <a:picLocks noChangeAspect="1"/>
          </p:cNvPicPr>
          <p:nvPr/>
        </p:nvPicPr>
        <p:blipFill>
          <a:blip r:embed="rId3"/>
          <a:stretch>
            <a:fillRect/>
          </a:stretch>
        </p:blipFill>
        <p:spPr>
          <a:xfrm>
            <a:off x="793790" y="4811673"/>
            <a:ext cx="2478762" cy="248007"/>
          </a:xfrm>
          <a:prstGeom prst="rect">
            <a:avLst/>
          </a:prstGeom>
        </p:spPr>
      </p:pic>
      <p:sp>
        <p:nvSpPr>
          <p:cNvPr id="9" name="Text 6"/>
          <p:cNvSpPr/>
          <p:nvPr/>
        </p:nvSpPr>
        <p:spPr>
          <a:xfrm>
            <a:off x="6438900" y="4811673"/>
            <a:ext cx="752237" cy="248007"/>
          </a:xfrm>
          <a:prstGeom prst="rect">
            <a:avLst/>
          </a:prstGeom>
          <a:noFill/>
          <a:ln/>
        </p:spPr>
        <p:txBody>
          <a:bodyPr wrap="none" lIns="0" tIns="0" rIns="0" bIns="0" rtlCol="0" anchor="t"/>
          <a:lstStyle/>
          <a:p>
            <a:pPr marL="0" indent="0" algn="l">
              <a:lnSpc>
                <a:spcPts val="1950"/>
              </a:lnSpc>
              <a:buNone/>
            </a:pPr>
            <a:r>
              <a:rPr lang="en-US" sz="1950" dirty="0">
                <a:solidFill>
                  <a:srgbClr val="384653"/>
                </a:solidFill>
                <a:latin typeface="Host Grotesk Medium" pitchFamily="34" charset="0"/>
                <a:ea typeface="Host Grotesk Medium" pitchFamily="34" charset="-122"/>
                <a:cs typeface="Host Grotesk Medium" pitchFamily="34" charset="-120"/>
              </a:rPr>
              <a:t>45.1%</a:t>
            </a:r>
            <a:endParaRPr lang="en-US" sz="1950" dirty="0"/>
          </a:p>
        </p:txBody>
      </p:sp>
      <p:sp>
        <p:nvSpPr>
          <p:cNvPr id="10" name="Text 7"/>
          <p:cNvSpPr/>
          <p:nvPr/>
        </p:nvSpPr>
        <p:spPr>
          <a:xfrm>
            <a:off x="793790" y="530768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Male Dropout Rate</a:t>
            </a:r>
            <a:endParaRPr lang="en-US" sz="1950" dirty="0"/>
          </a:p>
        </p:txBody>
      </p:sp>
      <p:sp>
        <p:nvSpPr>
          <p:cNvPr id="11" name="Shape 8"/>
          <p:cNvSpPr/>
          <p:nvPr/>
        </p:nvSpPr>
        <p:spPr>
          <a:xfrm>
            <a:off x="7439144" y="4811673"/>
            <a:ext cx="5496401" cy="248007"/>
          </a:xfrm>
          <a:prstGeom prst="roundRect">
            <a:avLst>
              <a:gd name="adj" fmla="val 33612"/>
            </a:avLst>
          </a:prstGeom>
          <a:solidFill>
            <a:srgbClr val="D9EDF2"/>
          </a:solidFill>
          <a:ln w="7620">
            <a:solidFill>
              <a:srgbClr val="BFD3D8"/>
            </a:solidFill>
            <a:prstDash val="solid"/>
          </a:ln>
        </p:spPr>
      </p:sp>
      <p:pic>
        <p:nvPicPr>
          <p:cNvPr id="12" name="Image 1" descr="preencoded.png"/>
          <p:cNvPicPr>
            <a:picLocks noChangeAspect="1"/>
          </p:cNvPicPr>
          <p:nvPr/>
        </p:nvPicPr>
        <p:blipFill>
          <a:blip r:embed="rId4"/>
          <a:stretch>
            <a:fillRect/>
          </a:stretch>
        </p:blipFill>
        <p:spPr>
          <a:xfrm>
            <a:off x="7439144" y="4811673"/>
            <a:ext cx="1379577" cy="248007"/>
          </a:xfrm>
          <a:prstGeom prst="rect">
            <a:avLst/>
          </a:prstGeom>
        </p:spPr>
      </p:pic>
      <p:sp>
        <p:nvSpPr>
          <p:cNvPr id="13" name="Text 9"/>
          <p:cNvSpPr/>
          <p:nvPr/>
        </p:nvSpPr>
        <p:spPr>
          <a:xfrm>
            <a:off x="13084373" y="4811673"/>
            <a:ext cx="752237" cy="248007"/>
          </a:xfrm>
          <a:prstGeom prst="rect">
            <a:avLst/>
          </a:prstGeom>
          <a:noFill/>
          <a:ln/>
        </p:spPr>
        <p:txBody>
          <a:bodyPr wrap="none" lIns="0" tIns="0" rIns="0" bIns="0" rtlCol="0" anchor="t"/>
          <a:lstStyle/>
          <a:p>
            <a:pPr marL="0" indent="0" algn="l">
              <a:lnSpc>
                <a:spcPts val="1950"/>
              </a:lnSpc>
              <a:buNone/>
            </a:pPr>
            <a:r>
              <a:rPr lang="en-US" sz="1950" dirty="0">
                <a:solidFill>
                  <a:srgbClr val="384653"/>
                </a:solidFill>
                <a:latin typeface="Host Grotesk Medium" pitchFamily="34" charset="0"/>
                <a:ea typeface="Host Grotesk Medium" pitchFamily="34" charset="-122"/>
                <a:cs typeface="Host Grotesk Medium" pitchFamily="34" charset="-120"/>
              </a:rPr>
              <a:t>25.1%</a:t>
            </a:r>
            <a:endParaRPr lang="en-US" sz="1950" dirty="0"/>
          </a:p>
        </p:txBody>
      </p:sp>
      <p:sp>
        <p:nvSpPr>
          <p:cNvPr id="14" name="Text 10"/>
          <p:cNvSpPr/>
          <p:nvPr/>
        </p:nvSpPr>
        <p:spPr>
          <a:xfrm>
            <a:off x="7439144" y="530768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Female Dropout Rate</a:t>
            </a:r>
            <a:endParaRPr lang="en-US" sz="1950" dirty="0"/>
          </a:p>
        </p:txBody>
      </p:sp>
      <p:sp>
        <p:nvSpPr>
          <p:cNvPr id="15" name="Text 11"/>
          <p:cNvSpPr/>
          <p:nvPr/>
        </p:nvSpPr>
        <p:spPr>
          <a:xfrm>
            <a:off x="793790" y="5841087"/>
            <a:ext cx="1304282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Age at enrollment is right-skewed, with most students entering in their late teens; however, dropout rates notably increase for students enrolling in their mid-20s to early 30s. This finding suggests that non-traditional students face unique challenges that require specialized support systems.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B9215F-539C-A1F0-5F88-2288ADBCFEB5}"/>
              </a:ext>
            </a:extLst>
          </p:cNvPr>
          <p:cNvPicPr>
            <a:picLocks noChangeAspect="1"/>
          </p:cNvPicPr>
          <p:nvPr/>
        </p:nvPicPr>
        <p:blipFill>
          <a:blip r:embed="rId2"/>
          <a:stretch>
            <a:fillRect/>
          </a:stretch>
        </p:blipFill>
        <p:spPr>
          <a:xfrm>
            <a:off x="1713718" y="818690"/>
            <a:ext cx="11202963" cy="6592220"/>
          </a:xfrm>
          <a:prstGeom prst="rect">
            <a:avLst/>
          </a:prstGeom>
        </p:spPr>
      </p:pic>
    </p:spTree>
    <p:extLst>
      <p:ext uri="{BB962C8B-B14F-4D97-AF65-F5344CB8AC3E}">
        <p14:creationId xmlns:p14="http://schemas.microsoft.com/office/powerpoint/2010/main" val="1200511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793790" y="2017038"/>
            <a:ext cx="9248061"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EDA: Academic and Course-Level Trends</a:t>
            </a:r>
            <a:endParaRPr lang="en-US" sz="3900" dirty="0"/>
          </a:p>
        </p:txBody>
      </p:sp>
      <p:sp>
        <p:nvSpPr>
          <p:cNvPr id="3" name="Shape 1"/>
          <p:cNvSpPr/>
          <p:nvPr/>
        </p:nvSpPr>
        <p:spPr>
          <a:xfrm>
            <a:off x="793790" y="3033951"/>
            <a:ext cx="4215289" cy="2359938"/>
          </a:xfrm>
          <a:prstGeom prst="roundRect">
            <a:avLst>
              <a:gd name="adj" fmla="val 3532"/>
            </a:avLst>
          </a:prstGeom>
          <a:solidFill>
            <a:srgbClr val="FAF9F5"/>
          </a:solidFill>
          <a:ln w="22860">
            <a:solidFill>
              <a:srgbClr val="BFD3D8"/>
            </a:solidFill>
            <a:prstDash val="solid"/>
          </a:ln>
        </p:spPr>
      </p:sp>
      <p:sp>
        <p:nvSpPr>
          <p:cNvPr id="4" name="Text 2"/>
          <p:cNvSpPr/>
          <p:nvPr/>
        </p:nvSpPr>
        <p:spPr>
          <a:xfrm>
            <a:off x="1015008" y="325516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Discipline Variation</a:t>
            </a:r>
            <a:endParaRPr lang="en-US" sz="1950" dirty="0"/>
          </a:p>
        </p:txBody>
      </p:sp>
      <p:sp>
        <p:nvSpPr>
          <p:cNvPr id="5" name="Text 3"/>
          <p:cNvSpPr/>
          <p:nvPr/>
        </p:nvSpPr>
        <p:spPr>
          <a:xfrm>
            <a:off x="1015008" y="3684389"/>
            <a:ext cx="3772853" cy="1488281"/>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Enrollment varies widely across disciplines, with "Nursing" showing the highest student count and "Biofuel Production Technologies" showing the lowest.</a:t>
            </a:r>
            <a:endParaRPr lang="en-US" sz="1550" dirty="0"/>
          </a:p>
        </p:txBody>
      </p:sp>
      <p:sp>
        <p:nvSpPr>
          <p:cNvPr id="6" name="Shape 4"/>
          <p:cNvSpPr/>
          <p:nvPr/>
        </p:nvSpPr>
        <p:spPr>
          <a:xfrm>
            <a:off x="5207437" y="3033951"/>
            <a:ext cx="4215408" cy="2359938"/>
          </a:xfrm>
          <a:prstGeom prst="roundRect">
            <a:avLst>
              <a:gd name="adj" fmla="val 3532"/>
            </a:avLst>
          </a:prstGeom>
          <a:solidFill>
            <a:srgbClr val="FAF9F5"/>
          </a:solidFill>
          <a:ln w="22860">
            <a:solidFill>
              <a:srgbClr val="BFD3D8"/>
            </a:solidFill>
            <a:prstDash val="solid"/>
          </a:ln>
        </p:spPr>
      </p:sp>
      <p:sp>
        <p:nvSpPr>
          <p:cNvPr id="7" name="Text 5"/>
          <p:cNvSpPr/>
          <p:nvPr/>
        </p:nvSpPr>
        <p:spPr>
          <a:xfrm>
            <a:off x="5428655" y="3255169"/>
            <a:ext cx="2638306"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Performance Indicators</a:t>
            </a:r>
            <a:endParaRPr lang="en-US" sz="1950" dirty="0"/>
          </a:p>
        </p:txBody>
      </p:sp>
      <p:sp>
        <p:nvSpPr>
          <p:cNvPr id="8" name="Text 6"/>
          <p:cNvSpPr/>
          <p:nvPr/>
        </p:nvSpPr>
        <p:spPr>
          <a:xfrm>
            <a:off x="5428655" y="3684389"/>
            <a:ext cx="3772972"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Academic performance in the first and second semesters—specifically curricular units approved and grades—serves as a primary indicator of student success.</a:t>
            </a:r>
            <a:endParaRPr lang="en-US" sz="1550" dirty="0"/>
          </a:p>
        </p:txBody>
      </p:sp>
      <p:sp>
        <p:nvSpPr>
          <p:cNvPr id="9" name="Shape 7"/>
          <p:cNvSpPr/>
          <p:nvPr/>
        </p:nvSpPr>
        <p:spPr>
          <a:xfrm>
            <a:off x="9621203" y="3033951"/>
            <a:ext cx="4215289" cy="2359938"/>
          </a:xfrm>
          <a:prstGeom prst="roundRect">
            <a:avLst>
              <a:gd name="adj" fmla="val 3532"/>
            </a:avLst>
          </a:prstGeom>
          <a:solidFill>
            <a:srgbClr val="FAF9F5"/>
          </a:solidFill>
          <a:ln w="22860">
            <a:solidFill>
              <a:srgbClr val="BFD3D8"/>
            </a:solidFill>
            <a:prstDash val="solid"/>
          </a:ln>
        </p:spPr>
      </p:sp>
      <p:sp>
        <p:nvSpPr>
          <p:cNvPr id="10" name="Text 8"/>
          <p:cNvSpPr/>
          <p:nvPr/>
        </p:nvSpPr>
        <p:spPr>
          <a:xfrm>
            <a:off x="9842421" y="325516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Application Factors</a:t>
            </a:r>
            <a:endParaRPr lang="en-US" sz="1950" dirty="0"/>
          </a:p>
        </p:txBody>
      </p:sp>
      <p:sp>
        <p:nvSpPr>
          <p:cNvPr id="11" name="Text 9"/>
          <p:cNvSpPr/>
          <p:nvPr/>
        </p:nvSpPr>
        <p:spPr>
          <a:xfrm>
            <a:off x="9842421" y="3684389"/>
            <a:ext cx="3772853"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The analysis explores how different application modes and previous qualifications impact the final academic standing of students.</a:t>
            </a:r>
            <a:endParaRPr lang="en-US" sz="1550" dirty="0"/>
          </a:p>
        </p:txBody>
      </p:sp>
      <p:sp>
        <p:nvSpPr>
          <p:cNvPr id="12" name="Text 10"/>
          <p:cNvSpPr/>
          <p:nvPr/>
        </p:nvSpPr>
        <p:spPr>
          <a:xfrm>
            <a:off x="793790" y="5617131"/>
            <a:ext cx="1304282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The wide variation in enrollment across disciplines suggests that program-specific factors may influence student retention. Understanding these patterns can help institutions allocate resources more effectively and develop targeted retention strategies for programs with higher attrition rates.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93790" y="1934289"/>
            <a:ext cx="9993749"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Methodology: Data Pre-processing Strategy</a:t>
            </a:r>
            <a:endParaRPr lang="en-US" sz="3900" dirty="0"/>
          </a:p>
        </p:txBody>
      </p:sp>
      <p:sp>
        <p:nvSpPr>
          <p:cNvPr id="3" name="Text 1"/>
          <p:cNvSpPr/>
          <p:nvPr/>
        </p:nvSpPr>
        <p:spPr>
          <a:xfrm>
            <a:off x="793790" y="2951202"/>
            <a:ext cx="198358" cy="248007"/>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01</a:t>
            </a:r>
            <a:endParaRPr lang="en-US" sz="1550" dirty="0"/>
          </a:p>
        </p:txBody>
      </p:sp>
      <p:pic>
        <p:nvPicPr>
          <p:cNvPr id="4" name="Image 0" descr="preencoded.png"/>
          <p:cNvPicPr>
            <a:picLocks noChangeAspect="1"/>
          </p:cNvPicPr>
          <p:nvPr/>
        </p:nvPicPr>
        <p:blipFill>
          <a:blip r:embed="rId3"/>
          <a:stretch>
            <a:fillRect/>
          </a:stretch>
        </p:blipFill>
        <p:spPr>
          <a:xfrm>
            <a:off x="793790" y="3265527"/>
            <a:ext cx="4215289" cy="22860"/>
          </a:xfrm>
          <a:prstGeom prst="rect">
            <a:avLst/>
          </a:prstGeom>
        </p:spPr>
      </p:pic>
      <p:sp>
        <p:nvSpPr>
          <p:cNvPr id="5" name="Text 2"/>
          <p:cNvSpPr/>
          <p:nvPr/>
        </p:nvSpPr>
        <p:spPr>
          <a:xfrm>
            <a:off x="793790" y="341042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Data Cleaning</a:t>
            </a:r>
            <a:endParaRPr lang="en-US" sz="1950" dirty="0"/>
          </a:p>
        </p:txBody>
      </p:sp>
      <p:sp>
        <p:nvSpPr>
          <p:cNvPr id="6" name="Text 3"/>
          <p:cNvSpPr/>
          <p:nvPr/>
        </p:nvSpPr>
        <p:spPr>
          <a:xfrm>
            <a:off x="793790" y="3839647"/>
            <a:ext cx="4215289"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Standardizing column names (e.g., correcting "Nacionality" to "Nationality") and verifying that no null values were present in the dataset.</a:t>
            </a:r>
            <a:endParaRPr lang="en-US" sz="1550" dirty="0"/>
          </a:p>
        </p:txBody>
      </p:sp>
      <p:sp>
        <p:nvSpPr>
          <p:cNvPr id="7" name="Text 4"/>
          <p:cNvSpPr/>
          <p:nvPr/>
        </p:nvSpPr>
        <p:spPr>
          <a:xfrm>
            <a:off x="5207437" y="2951202"/>
            <a:ext cx="198358" cy="248007"/>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02</a:t>
            </a:r>
            <a:endParaRPr lang="en-US" sz="1550" dirty="0"/>
          </a:p>
        </p:txBody>
      </p:sp>
      <p:pic>
        <p:nvPicPr>
          <p:cNvPr id="8" name="Image 1" descr="preencoded.png"/>
          <p:cNvPicPr>
            <a:picLocks noChangeAspect="1"/>
          </p:cNvPicPr>
          <p:nvPr/>
        </p:nvPicPr>
        <p:blipFill>
          <a:blip r:embed="rId3"/>
          <a:stretch>
            <a:fillRect/>
          </a:stretch>
        </p:blipFill>
        <p:spPr>
          <a:xfrm>
            <a:off x="5207437" y="3265527"/>
            <a:ext cx="4215408" cy="22860"/>
          </a:xfrm>
          <a:prstGeom prst="rect">
            <a:avLst/>
          </a:prstGeom>
        </p:spPr>
      </p:pic>
      <p:sp>
        <p:nvSpPr>
          <p:cNvPr id="9" name="Text 5"/>
          <p:cNvSpPr/>
          <p:nvPr/>
        </p:nvSpPr>
        <p:spPr>
          <a:xfrm>
            <a:off x="5207437" y="341042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Feature Scaling</a:t>
            </a:r>
            <a:endParaRPr lang="en-US" sz="1950" dirty="0"/>
          </a:p>
        </p:txBody>
      </p:sp>
      <p:sp>
        <p:nvSpPr>
          <p:cNvPr id="10" name="Text 6"/>
          <p:cNvSpPr/>
          <p:nvPr/>
        </p:nvSpPr>
        <p:spPr>
          <a:xfrm>
            <a:off x="5207437" y="3839647"/>
            <a:ext cx="4215408"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Implementing StandardScaler to normalize numerical variables, ensuring all features contribute equally to the model's distance calculations.</a:t>
            </a:r>
            <a:endParaRPr lang="en-US" sz="1550" dirty="0"/>
          </a:p>
        </p:txBody>
      </p:sp>
      <p:sp>
        <p:nvSpPr>
          <p:cNvPr id="11" name="Text 7"/>
          <p:cNvSpPr/>
          <p:nvPr/>
        </p:nvSpPr>
        <p:spPr>
          <a:xfrm>
            <a:off x="9621203" y="2951202"/>
            <a:ext cx="198358" cy="248007"/>
          </a:xfrm>
          <a:prstGeom prst="rect">
            <a:avLst/>
          </a:prstGeom>
          <a:noFill/>
          <a:ln/>
        </p:spPr>
        <p:txBody>
          <a:bodyPr wrap="none" lIns="0" tIns="0" rIns="0" bIns="0" rtlCol="0" anchor="t"/>
          <a:lstStyle/>
          <a:p>
            <a:pPr marL="0" indent="0" algn="l">
              <a:lnSpc>
                <a:spcPts val="2300"/>
              </a:lnSpc>
              <a:buNone/>
            </a:pPr>
            <a:r>
              <a:rPr lang="en-US" sz="1550" dirty="0">
                <a:solidFill>
                  <a:srgbClr val="384653"/>
                </a:solidFill>
                <a:latin typeface="Host Grotesk Light" pitchFamily="34" charset="0"/>
                <a:ea typeface="Host Grotesk Light" pitchFamily="34" charset="-122"/>
                <a:cs typeface="Host Grotesk Light" pitchFamily="34" charset="-120"/>
              </a:rPr>
              <a:t>03</a:t>
            </a:r>
            <a:endParaRPr lang="en-US" sz="1550" dirty="0"/>
          </a:p>
        </p:txBody>
      </p:sp>
      <p:pic>
        <p:nvPicPr>
          <p:cNvPr id="12" name="Image 2" descr="preencoded.png"/>
          <p:cNvPicPr>
            <a:picLocks noChangeAspect="1"/>
          </p:cNvPicPr>
          <p:nvPr/>
        </p:nvPicPr>
        <p:blipFill>
          <a:blip r:embed="rId3"/>
          <a:stretch>
            <a:fillRect/>
          </a:stretch>
        </p:blipFill>
        <p:spPr>
          <a:xfrm>
            <a:off x="9621203" y="3285292"/>
            <a:ext cx="4215289" cy="22860"/>
          </a:xfrm>
          <a:prstGeom prst="rect">
            <a:avLst/>
          </a:prstGeom>
        </p:spPr>
      </p:pic>
      <p:sp>
        <p:nvSpPr>
          <p:cNvPr id="13" name="Text 8"/>
          <p:cNvSpPr/>
          <p:nvPr/>
        </p:nvSpPr>
        <p:spPr>
          <a:xfrm>
            <a:off x="9621203" y="3410426"/>
            <a:ext cx="2865001"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Dimensionality Reduction</a:t>
            </a:r>
            <a:endParaRPr lang="en-US" sz="1950" dirty="0"/>
          </a:p>
        </p:txBody>
      </p:sp>
      <p:sp>
        <p:nvSpPr>
          <p:cNvPr id="14" name="Text 9"/>
          <p:cNvSpPr/>
          <p:nvPr/>
        </p:nvSpPr>
        <p:spPr>
          <a:xfrm>
            <a:off x="9621203" y="3839647"/>
            <a:ext cx="4215289"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Considering Principal Component Analysis (PCA) to streamline the 35 features into the most impactful components.</a:t>
            </a:r>
            <a:endParaRPr lang="en-US" sz="1550" dirty="0"/>
          </a:p>
        </p:txBody>
      </p:sp>
      <p:sp>
        <p:nvSpPr>
          <p:cNvPr id="15" name="Text 10"/>
          <p:cNvSpPr/>
          <p:nvPr/>
        </p:nvSpPr>
        <p:spPr>
          <a:xfrm>
            <a:off x="793790" y="5402342"/>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These pre-processing steps were essential for ensuring data quality and model performance. By standardizing column names and verifying data completeness, we established a clean foundation for analysis. Feature scaling was particularly important for algorithms that rely on distance calculations, while dimensionality reduction through PCA offered the potential to identify the most influential factors driving student outcomes.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793790" y="718899"/>
            <a:ext cx="10530959"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Machine Learning: Supervised Classifiers Used</a:t>
            </a:r>
            <a:endParaRPr lang="en-US" sz="3900" dirty="0"/>
          </a:p>
        </p:txBody>
      </p:sp>
      <p:sp>
        <p:nvSpPr>
          <p:cNvPr id="3" name="Shape 1"/>
          <p:cNvSpPr/>
          <p:nvPr/>
        </p:nvSpPr>
        <p:spPr>
          <a:xfrm>
            <a:off x="793790" y="1735812"/>
            <a:ext cx="4215289" cy="2527816"/>
          </a:xfrm>
          <a:prstGeom prst="roundRect">
            <a:avLst>
              <a:gd name="adj" fmla="val 3298"/>
            </a:avLst>
          </a:prstGeom>
          <a:solidFill>
            <a:srgbClr val="D9EDF2"/>
          </a:solidFill>
          <a:ln w="7620">
            <a:solidFill>
              <a:srgbClr val="BFD3D8"/>
            </a:solidFill>
            <a:prstDash val="solid"/>
          </a:ln>
        </p:spPr>
      </p:sp>
      <p:pic>
        <p:nvPicPr>
          <p:cNvPr id="4" name="Image 0" descr="preencoded.png"/>
          <p:cNvPicPr>
            <a:picLocks noChangeAspect="1"/>
          </p:cNvPicPr>
          <p:nvPr/>
        </p:nvPicPr>
        <p:blipFill>
          <a:blip r:embed="rId3"/>
          <a:stretch>
            <a:fillRect/>
          </a:stretch>
        </p:blipFill>
        <p:spPr>
          <a:xfrm>
            <a:off x="999768" y="1941790"/>
            <a:ext cx="595313" cy="595313"/>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3479" y="2105382"/>
            <a:ext cx="267891" cy="267891"/>
          </a:xfrm>
          <a:prstGeom prst="rect">
            <a:avLst/>
          </a:prstGeom>
        </p:spPr>
      </p:pic>
      <p:sp>
        <p:nvSpPr>
          <p:cNvPr id="6" name="Text 2"/>
          <p:cNvSpPr/>
          <p:nvPr/>
        </p:nvSpPr>
        <p:spPr>
          <a:xfrm>
            <a:off x="999768" y="273546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Logistic Regression</a:t>
            </a:r>
            <a:endParaRPr lang="en-US" sz="1950" dirty="0"/>
          </a:p>
        </p:txBody>
      </p:sp>
      <p:sp>
        <p:nvSpPr>
          <p:cNvPr id="7" name="Text 3"/>
          <p:cNvSpPr/>
          <p:nvPr/>
        </p:nvSpPr>
        <p:spPr>
          <a:xfrm>
            <a:off x="999768" y="3164681"/>
            <a:ext cx="3803333"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Employed as a baseline linear model for its interpretability and efficiency in binary and multi-class classification tasks.</a:t>
            </a:r>
            <a:endParaRPr lang="en-US" sz="1550" dirty="0"/>
          </a:p>
        </p:txBody>
      </p:sp>
      <p:sp>
        <p:nvSpPr>
          <p:cNvPr id="8" name="Shape 4"/>
          <p:cNvSpPr/>
          <p:nvPr/>
        </p:nvSpPr>
        <p:spPr>
          <a:xfrm>
            <a:off x="5207437" y="1735812"/>
            <a:ext cx="4215408" cy="2527816"/>
          </a:xfrm>
          <a:prstGeom prst="roundRect">
            <a:avLst>
              <a:gd name="adj" fmla="val 3298"/>
            </a:avLst>
          </a:prstGeom>
          <a:solidFill>
            <a:srgbClr val="D9EDF2"/>
          </a:solidFill>
          <a:ln w="7620">
            <a:solidFill>
              <a:srgbClr val="BFD3D8"/>
            </a:solidFill>
            <a:prstDash val="solid"/>
          </a:ln>
        </p:spPr>
      </p:sp>
      <p:pic>
        <p:nvPicPr>
          <p:cNvPr id="9" name="Image 2" descr="preencoded.png"/>
          <p:cNvPicPr>
            <a:picLocks noChangeAspect="1"/>
          </p:cNvPicPr>
          <p:nvPr/>
        </p:nvPicPr>
        <p:blipFill>
          <a:blip r:embed="rId6"/>
          <a:stretch>
            <a:fillRect/>
          </a:stretch>
        </p:blipFill>
        <p:spPr>
          <a:xfrm>
            <a:off x="5413415" y="1941790"/>
            <a:ext cx="595313" cy="595313"/>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77126" y="2105382"/>
            <a:ext cx="267891" cy="267891"/>
          </a:xfrm>
          <a:prstGeom prst="rect">
            <a:avLst/>
          </a:prstGeom>
        </p:spPr>
      </p:pic>
      <p:sp>
        <p:nvSpPr>
          <p:cNvPr id="11" name="Text 5"/>
          <p:cNvSpPr/>
          <p:nvPr/>
        </p:nvSpPr>
        <p:spPr>
          <a:xfrm>
            <a:off x="5413415" y="2735461"/>
            <a:ext cx="2829520"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Support Vector Classifier</a:t>
            </a:r>
            <a:endParaRPr lang="en-US" sz="1950" dirty="0"/>
          </a:p>
        </p:txBody>
      </p:sp>
      <p:sp>
        <p:nvSpPr>
          <p:cNvPr id="12" name="Text 6"/>
          <p:cNvSpPr/>
          <p:nvPr/>
        </p:nvSpPr>
        <p:spPr>
          <a:xfrm>
            <a:off x="5413415" y="3164681"/>
            <a:ext cx="3803452"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Utilized for its ability to handle high-dimensional data and capture non-linear relationships in the dataset.</a:t>
            </a:r>
            <a:endParaRPr lang="en-US" sz="1550" dirty="0"/>
          </a:p>
        </p:txBody>
      </p:sp>
      <p:sp>
        <p:nvSpPr>
          <p:cNvPr id="13" name="Shape 7"/>
          <p:cNvSpPr/>
          <p:nvPr/>
        </p:nvSpPr>
        <p:spPr>
          <a:xfrm>
            <a:off x="9621203" y="1735812"/>
            <a:ext cx="4215289" cy="2527816"/>
          </a:xfrm>
          <a:prstGeom prst="roundRect">
            <a:avLst>
              <a:gd name="adj" fmla="val 3298"/>
            </a:avLst>
          </a:prstGeom>
          <a:solidFill>
            <a:srgbClr val="D9EDF2"/>
          </a:solidFill>
          <a:ln w="7620">
            <a:solidFill>
              <a:srgbClr val="BFD3D8"/>
            </a:solidFill>
            <a:prstDash val="solid"/>
          </a:ln>
        </p:spPr>
      </p:sp>
      <p:pic>
        <p:nvPicPr>
          <p:cNvPr id="14" name="Image 4" descr="preencoded.png"/>
          <p:cNvPicPr>
            <a:picLocks noChangeAspect="1"/>
          </p:cNvPicPr>
          <p:nvPr/>
        </p:nvPicPr>
        <p:blipFill>
          <a:blip r:embed="rId9"/>
          <a:stretch>
            <a:fillRect/>
          </a:stretch>
        </p:blipFill>
        <p:spPr>
          <a:xfrm>
            <a:off x="9827181" y="1941790"/>
            <a:ext cx="595313" cy="595313"/>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90892" y="2105382"/>
            <a:ext cx="267891" cy="267891"/>
          </a:xfrm>
          <a:prstGeom prst="rect">
            <a:avLst/>
          </a:prstGeom>
        </p:spPr>
      </p:pic>
      <p:sp>
        <p:nvSpPr>
          <p:cNvPr id="16" name="Text 8"/>
          <p:cNvSpPr/>
          <p:nvPr/>
        </p:nvSpPr>
        <p:spPr>
          <a:xfrm>
            <a:off x="9827181" y="273546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Random Forest</a:t>
            </a:r>
            <a:endParaRPr lang="en-US" sz="1950" dirty="0"/>
          </a:p>
        </p:txBody>
      </p:sp>
      <p:sp>
        <p:nvSpPr>
          <p:cNvPr id="17" name="Text 9"/>
          <p:cNvSpPr/>
          <p:nvPr/>
        </p:nvSpPr>
        <p:spPr>
          <a:xfrm>
            <a:off x="9827181" y="3164681"/>
            <a:ext cx="3803333"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Included to provide diverse perspectives on data clustering and rule-based decision paths through ensemble methods.</a:t>
            </a:r>
            <a:endParaRPr lang="en-US" sz="1550" dirty="0"/>
          </a:p>
        </p:txBody>
      </p:sp>
      <p:sp>
        <p:nvSpPr>
          <p:cNvPr id="18" name="Shape 10"/>
          <p:cNvSpPr/>
          <p:nvPr/>
        </p:nvSpPr>
        <p:spPr>
          <a:xfrm>
            <a:off x="793790" y="4461986"/>
            <a:ext cx="6422112" cy="2230160"/>
          </a:xfrm>
          <a:prstGeom prst="roundRect">
            <a:avLst>
              <a:gd name="adj" fmla="val 3738"/>
            </a:avLst>
          </a:prstGeom>
          <a:solidFill>
            <a:srgbClr val="D9EDF2"/>
          </a:solidFill>
          <a:ln w="7620">
            <a:solidFill>
              <a:srgbClr val="BFD3D8"/>
            </a:solidFill>
            <a:prstDash val="solid"/>
          </a:ln>
        </p:spPr>
      </p:sp>
      <p:pic>
        <p:nvPicPr>
          <p:cNvPr id="19" name="Image 6" descr="preencoded.png"/>
          <p:cNvPicPr>
            <a:picLocks noChangeAspect="1"/>
          </p:cNvPicPr>
          <p:nvPr/>
        </p:nvPicPr>
        <p:blipFill>
          <a:blip r:embed="rId12"/>
          <a:stretch>
            <a:fillRect/>
          </a:stretch>
        </p:blipFill>
        <p:spPr>
          <a:xfrm>
            <a:off x="999768" y="4667964"/>
            <a:ext cx="595313" cy="595313"/>
          </a:xfrm>
          <a:prstGeom prst="rect">
            <a:avLst/>
          </a:prstGeom>
        </p:spPr>
      </p:pic>
      <p:pic>
        <p:nvPicPr>
          <p:cNvPr id="20"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63479" y="4831556"/>
            <a:ext cx="267891" cy="267891"/>
          </a:xfrm>
          <a:prstGeom prst="rect">
            <a:avLst/>
          </a:prstGeom>
        </p:spPr>
      </p:pic>
      <p:sp>
        <p:nvSpPr>
          <p:cNvPr id="21" name="Text 11"/>
          <p:cNvSpPr/>
          <p:nvPr/>
        </p:nvSpPr>
        <p:spPr>
          <a:xfrm>
            <a:off x="999768" y="546163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K-Nearest Neighbors</a:t>
            </a:r>
            <a:endParaRPr lang="en-US" sz="1950" dirty="0"/>
          </a:p>
        </p:txBody>
      </p:sp>
      <p:sp>
        <p:nvSpPr>
          <p:cNvPr id="22" name="Text 12"/>
          <p:cNvSpPr/>
          <p:nvPr/>
        </p:nvSpPr>
        <p:spPr>
          <a:xfrm>
            <a:off x="999768" y="5890855"/>
            <a:ext cx="6010156"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Used for its ability to identify patterns based on similarity measures and local data structure.</a:t>
            </a:r>
            <a:endParaRPr lang="en-US" sz="1550" dirty="0"/>
          </a:p>
        </p:txBody>
      </p:sp>
      <p:sp>
        <p:nvSpPr>
          <p:cNvPr id="23" name="Shape 13"/>
          <p:cNvSpPr/>
          <p:nvPr/>
        </p:nvSpPr>
        <p:spPr>
          <a:xfrm>
            <a:off x="7414260" y="4461986"/>
            <a:ext cx="6422231" cy="2230160"/>
          </a:xfrm>
          <a:prstGeom prst="roundRect">
            <a:avLst>
              <a:gd name="adj" fmla="val 3738"/>
            </a:avLst>
          </a:prstGeom>
          <a:solidFill>
            <a:srgbClr val="D9EDF2"/>
          </a:solidFill>
          <a:ln w="7620">
            <a:solidFill>
              <a:srgbClr val="BFD3D8"/>
            </a:solidFill>
            <a:prstDash val="solid"/>
          </a:ln>
        </p:spPr>
      </p:sp>
      <p:pic>
        <p:nvPicPr>
          <p:cNvPr id="24" name="Image 8" descr="preencoded.png"/>
          <p:cNvPicPr>
            <a:picLocks noChangeAspect="1"/>
          </p:cNvPicPr>
          <p:nvPr/>
        </p:nvPicPr>
        <p:blipFill>
          <a:blip r:embed="rId15"/>
          <a:stretch>
            <a:fillRect/>
          </a:stretch>
        </p:blipFill>
        <p:spPr>
          <a:xfrm>
            <a:off x="7620238" y="4667964"/>
            <a:ext cx="595313" cy="595313"/>
          </a:xfrm>
          <a:prstGeom prst="rect">
            <a:avLst/>
          </a:prstGeom>
        </p:spPr>
      </p:pic>
      <p:pic>
        <p:nvPicPr>
          <p:cNvPr id="25"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783949" y="4831556"/>
            <a:ext cx="267891" cy="267891"/>
          </a:xfrm>
          <a:prstGeom prst="rect">
            <a:avLst/>
          </a:prstGeom>
        </p:spPr>
      </p:pic>
      <p:sp>
        <p:nvSpPr>
          <p:cNvPr id="26" name="Text 14"/>
          <p:cNvSpPr/>
          <p:nvPr/>
        </p:nvSpPr>
        <p:spPr>
          <a:xfrm>
            <a:off x="7620238" y="546163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Decision Trees</a:t>
            </a:r>
            <a:endParaRPr lang="en-US" sz="1950" dirty="0"/>
          </a:p>
        </p:txBody>
      </p:sp>
      <p:sp>
        <p:nvSpPr>
          <p:cNvPr id="27" name="Text 15"/>
          <p:cNvSpPr/>
          <p:nvPr/>
        </p:nvSpPr>
        <p:spPr>
          <a:xfrm>
            <a:off x="7620238" y="5890855"/>
            <a:ext cx="6010275"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Implemented to provide interpretable, rule-based predictions that can be easily communicated to stakeholders.</a:t>
            </a:r>
            <a:endParaRPr lang="en-US" sz="1550" dirty="0"/>
          </a:p>
        </p:txBody>
      </p:sp>
      <p:sp>
        <p:nvSpPr>
          <p:cNvPr id="28" name="Text 16"/>
          <p:cNvSpPr/>
          <p:nvPr/>
        </p:nvSpPr>
        <p:spPr>
          <a:xfrm>
            <a:off x="793790" y="6915388"/>
            <a:ext cx="13042821" cy="595313"/>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Each classifier was selected to provide a different perspective on the data, from linear relationships to complex non-linear patterns. This diverse approach allowed for comprehensive model comparison and ensemble methods.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1643063"/>
            <a:ext cx="10041374"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Model Optimization: Hyperparameter Tuning</a:t>
            </a:r>
            <a:endParaRPr lang="en-US" sz="3900" dirty="0"/>
          </a:p>
        </p:txBody>
      </p:sp>
      <p:pic>
        <p:nvPicPr>
          <p:cNvPr id="3" name="Image 0" descr="preencoded.png"/>
          <p:cNvPicPr>
            <a:picLocks noChangeAspect="1"/>
          </p:cNvPicPr>
          <p:nvPr/>
        </p:nvPicPr>
        <p:blipFill>
          <a:blip r:embed="rId3"/>
          <a:stretch>
            <a:fillRect/>
          </a:stretch>
        </p:blipFill>
        <p:spPr>
          <a:xfrm>
            <a:off x="793790" y="2659975"/>
            <a:ext cx="4347567" cy="793790"/>
          </a:xfrm>
          <a:prstGeom prst="rect">
            <a:avLst/>
          </a:prstGeom>
        </p:spPr>
      </p:pic>
      <p:sp>
        <p:nvSpPr>
          <p:cNvPr id="4" name="Text 1"/>
          <p:cNvSpPr/>
          <p:nvPr/>
        </p:nvSpPr>
        <p:spPr>
          <a:xfrm>
            <a:off x="992148" y="365212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GridSearchCV</a:t>
            </a:r>
            <a:endParaRPr lang="en-US" sz="1950" dirty="0"/>
          </a:p>
        </p:txBody>
      </p:sp>
      <p:sp>
        <p:nvSpPr>
          <p:cNvPr id="5" name="Text 2"/>
          <p:cNvSpPr/>
          <p:nvPr/>
        </p:nvSpPr>
        <p:spPr>
          <a:xfrm>
            <a:off x="992148" y="4081343"/>
            <a:ext cx="395085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Implemented exhaustive search over specified parameter grids to identify optimal configurations.</a:t>
            </a:r>
            <a:endParaRPr lang="en-US" sz="1550" dirty="0"/>
          </a:p>
        </p:txBody>
      </p:sp>
      <p:pic>
        <p:nvPicPr>
          <p:cNvPr id="6" name="Image 1" descr="preencoded.png"/>
          <p:cNvPicPr>
            <a:picLocks noChangeAspect="1"/>
          </p:cNvPicPr>
          <p:nvPr/>
        </p:nvPicPr>
        <p:blipFill>
          <a:blip r:embed="rId4"/>
          <a:stretch>
            <a:fillRect/>
          </a:stretch>
        </p:blipFill>
        <p:spPr>
          <a:xfrm>
            <a:off x="5141357" y="2659975"/>
            <a:ext cx="4347567" cy="793790"/>
          </a:xfrm>
          <a:prstGeom prst="rect">
            <a:avLst/>
          </a:prstGeom>
        </p:spPr>
      </p:pic>
      <p:sp>
        <p:nvSpPr>
          <p:cNvPr id="7" name="Text 3"/>
          <p:cNvSpPr/>
          <p:nvPr/>
        </p:nvSpPr>
        <p:spPr>
          <a:xfrm>
            <a:off x="5339715" y="3652123"/>
            <a:ext cx="2674263"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Parameter Optimization</a:t>
            </a:r>
            <a:endParaRPr lang="en-US" sz="1950" dirty="0"/>
          </a:p>
        </p:txBody>
      </p:sp>
      <p:sp>
        <p:nvSpPr>
          <p:cNvPr id="8" name="Text 4"/>
          <p:cNvSpPr/>
          <p:nvPr/>
        </p:nvSpPr>
        <p:spPr>
          <a:xfrm>
            <a:off x="5339715" y="4081343"/>
            <a:ext cx="3950851"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Focused on tuning critical parameters such as the number of neighbors in KNN and the regularization strength in Logistic Regression.</a:t>
            </a:r>
            <a:endParaRPr lang="en-US" sz="1550" dirty="0"/>
          </a:p>
        </p:txBody>
      </p:sp>
      <p:pic>
        <p:nvPicPr>
          <p:cNvPr id="9" name="Image 2" descr="preencoded.png"/>
          <p:cNvPicPr>
            <a:picLocks noChangeAspect="1"/>
          </p:cNvPicPr>
          <p:nvPr/>
        </p:nvPicPr>
        <p:blipFill>
          <a:blip r:embed="rId5"/>
          <a:stretch>
            <a:fillRect/>
          </a:stretch>
        </p:blipFill>
        <p:spPr>
          <a:xfrm>
            <a:off x="9488924" y="2659975"/>
            <a:ext cx="4347567" cy="793790"/>
          </a:xfrm>
          <a:prstGeom prst="rect">
            <a:avLst/>
          </a:prstGeom>
        </p:spPr>
      </p:pic>
      <p:sp>
        <p:nvSpPr>
          <p:cNvPr id="10" name="Text 5"/>
          <p:cNvSpPr/>
          <p:nvPr/>
        </p:nvSpPr>
        <p:spPr>
          <a:xfrm>
            <a:off x="9687282" y="365212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Cross-Validation</a:t>
            </a:r>
            <a:endParaRPr lang="en-US" sz="1950" dirty="0"/>
          </a:p>
        </p:txBody>
      </p:sp>
      <p:sp>
        <p:nvSpPr>
          <p:cNvPr id="11" name="Text 6"/>
          <p:cNvSpPr/>
          <p:nvPr/>
        </p:nvSpPr>
        <p:spPr>
          <a:xfrm>
            <a:off x="9687282" y="4081343"/>
            <a:ext cx="395085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Utilized during tuning to ensure models generalize well to unseen data and avoid overfitting.</a:t>
            </a:r>
            <a:endParaRPr lang="en-US" sz="1550" dirty="0"/>
          </a:p>
        </p:txBody>
      </p:sp>
      <p:sp>
        <p:nvSpPr>
          <p:cNvPr id="12" name="Text 7"/>
          <p:cNvSpPr/>
          <p:nvPr/>
        </p:nvSpPr>
        <p:spPr>
          <a:xfrm>
            <a:off x="793790" y="5693569"/>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The hyperparameter tuning process was critical for maximizing model performance. By systematically exploring parameter combinations through GridSearchCV, we identified configurations that balanced bias and variance. Cross-validation ensured that our models would perform reliably on new student data, rather than simply memorizing patterns in the training set.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793790" y="2089428"/>
            <a:ext cx="8521184"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Results: Model Evaluation and Metrics</a:t>
            </a:r>
            <a:endParaRPr lang="en-US" sz="39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106341"/>
            <a:ext cx="496133" cy="496133"/>
          </a:xfrm>
          <a:prstGeom prst="rect">
            <a:avLst/>
          </a:prstGeom>
        </p:spPr>
      </p:pic>
      <p:sp>
        <p:nvSpPr>
          <p:cNvPr id="4" name="Text 1"/>
          <p:cNvSpPr/>
          <p:nvPr/>
        </p:nvSpPr>
        <p:spPr>
          <a:xfrm>
            <a:off x="1537930" y="31063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Accuracy Score</a:t>
            </a:r>
            <a:endParaRPr lang="en-US" sz="1950" dirty="0"/>
          </a:p>
        </p:txBody>
      </p:sp>
      <p:sp>
        <p:nvSpPr>
          <p:cNvPr id="5" name="Text 2"/>
          <p:cNvSpPr/>
          <p:nvPr/>
        </p:nvSpPr>
        <p:spPr>
          <a:xfrm>
            <a:off x="1537930" y="3535561"/>
            <a:ext cx="3438049"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Overall proportion of correctly classified students across all three outcome categories (graduation, dropout, enrolled).</a:t>
            </a:r>
            <a:endParaRPr lang="en-US" sz="15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3986" y="3106341"/>
            <a:ext cx="496133" cy="496133"/>
          </a:xfrm>
          <a:prstGeom prst="rect">
            <a:avLst/>
          </a:prstGeom>
        </p:spPr>
      </p:pic>
      <p:sp>
        <p:nvSpPr>
          <p:cNvPr id="7" name="Text 3"/>
          <p:cNvSpPr/>
          <p:nvPr/>
        </p:nvSpPr>
        <p:spPr>
          <a:xfrm>
            <a:off x="5968127" y="31063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Confusion Matrices</a:t>
            </a:r>
            <a:endParaRPr lang="en-US" sz="1950" dirty="0"/>
          </a:p>
        </p:txBody>
      </p:sp>
      <p:sp>
        <p:nvSpPr>
          <p:cNvPr id="8" name="Text 4"/>
          <p:cNvSpPr/>
          <p:nvPr/>
        </p:nvSpPr>
        <p:spPr>
          <a:xfrm>
            <a:off x="5968127" y="3535561"/>
            <a:ext cx="3438168"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Visualized classification errors to identify specific patterns of misclassification and areas requiring model improvement.</a:t>
            </a:r>
            <a:endParaRPr lang="en-US" sz="15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4302" y="3106341"/>
            <a:ext cx="496133" cy="496133"/>
          </a:xfrm>
          <a:prstGeom prst="rect">
            <a:avLst/>
          </a:prstGeom>
        </p:spPr>
      </p:pic>
      <p:sp>
        <p:nvSpPr>
          <p:cNvPr id="10" name="Text 5"/>
          <p:cNvSpPr/>
          <p:nvPr/>
        </p:nvSpPr>
        <p:spPr>
          <a:xfrm>
            <a:off x="10398443" y="31063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AUC-ROC</a:t>
            </a:r>
            <a:endParaRPr lang="en-US" sz="1950" dirty="0"/>
          </a:p>
        </p:txBody>
      </p:sp>
      <p:sp>
        <p:nvSpPr>
          <p:cNvPr id="11" name="Text 6"/>
          <p:cNvSpPr/>
          <p:nvPr/>
        </p:nvSpPr>
        <p:spPr>
          <a:xfrm>
            <a:off x="10398443" y="3535561"/>
            <a:ext cx="3438168" cy="1488281"/>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Area Under the Curve of the Receiver Operating Characteristic, measuring the model's discriminative ability across different classification thresholds.</a:t>
            </a:r>
            <a:endParaRPr lang="en-US" sz="1550" dirty="0"/>
          </a:p>
        </p:txBody>
      </p:sp>
      <p:sp>
        <p:nvSpPr>
          <p:cNvPr id="12" name="Text 7"/>
          <p:cNvSpPr/>
          <p:nvPr/>
        </p:nvSpPr>
        <p:spPr>
          <a:xfrm>
            <a:off x="793790" y="5247084"/>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Model performance was evaluated using multiple complementary metrics to provide a comprehensive assessment. The confusion matrices revealed specific patterns of misclassification, such as whether the model tended to over-predict graduation or dropout. The AUC-ROC metric was particularly valuable as it provided a threshold-independent measure of the model's ability to distinguish between at-risk and continuing students.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1C4A2B-B7EC-7595-C964-3281556C07DB}"/>
              </a:ext>
            </a:extLst>
          </p:cNvPr>
          <p:cNvPicPr>
            <a:picLocks noChangeAspect="1"/>
          </p:cNvPicPr>
          <p:nvPr/>
        </p:nvPicPr>
        <p:blipFill>
          <a:blip r:embed="rId2"/>
          <a:stretch>
            <a:fillRect/>
          </a:stretch>
        </p:blipFill>
        <p:spPr>
          <a:xfrm>
            <a:off x="0" y="2470228"/>
            <a:ext cx="14630400" cy="3289144"/>
          </a:xfrm>
          <a:prstGeom prst="rect">
            <a:avLst/>
          </a:prstGeom>
        </p:spPr>
      </p:pic>
    </p:spTree>
    <p:extLst>
      <p:ext uri="{BB962C8B-B14F-4D97-AF65-F5344CB8AC3E}">
        <p14:creationId xmlns:p14="http://schemas.microsoft.com/office/powerpoint/2010/main" val="3908176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1625560"/>
            <a:ext cx="8786574"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Key Findings: Final Model Performance</a:t>
            </a:r>
            <a:endParaRPr lang="en-US" sz="3900" dirty="0"/>
          </a:p>
        </p:txBody>
      </p:sp>
      <p:sp>
        <p:nvSpPr>
          <p:cNvPr id="3" name="Text 1"/>
          <p:cNvSpPr/>
          <p:nvPr/>
        </p:nvSpPr>
        <p:spPr>
          <a:xfrm>
            <a:off x="793790" y="2741652"/>
            <a:ext cx="13042821" cy="654963"/>
          </a:xfrm>
          <a:prstGeom prst="rect">
            <a:avLst/>
          </a:prstGeom>
          <a:noFill/>
          <a:ln/>
        </p:spPr>
        <p:txBody>
          <a:bodyPr wrap="none" lIns="0" tIns="0" rIns="0" bIns="0" rtlCol="0" anchor="t"/>
          <a:lstStyle/>
          <a:p>
            <a:pPr marL="0" indent="0" algn="ctr">
              <a:lnSpc>
                <a:spcPts val="5150"/>
              </a:lnSpc>
              <a:buNone/>
            </a:pPr>
            <a:r>
              <a:rPr lang="en-US" sz="5150" dirty="0">
                <a:solidFill>
                  <a:srgbClr val="384653"/>
                </a:solidFill>
                <a:latin typeface="Host Grotesk Medium" pitchFamily="34" charset="0"/>
                <a:ea typeface="Host Grotesk Medium" pitchFamily="34" charset="-122"/>
                <a:cs typeface="Host Grotesk Medium" pitchFamily="34" charset="-120"/>
              </a:rPr>
              <a:t>0.78</a:t>
            </a:r>
            <a:endParaRPr lang="en-US" sz="5150" dirty="0"/>
          </a:p>
        </p:txBody>
      </p:sp>
      <p:sp>
        <p:nvSpPr>
          <p:cNvPr id="4" name="Text 2"/>
          <p:cNvSpPr/>
          <p:nvPr/>
        </p:nvSpPr>
        <p:spPr>
          <a:xfrm>
            <a:off x="6074688" y="364462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AUC Score</a:t>
            </a:r>
            <a:endParaRPr lang="en-US" sz="1950" dirty="0"/>
          </a:p>
        </p:txBody>
      </p:sp>
      <p:sp>
        <p:nvSpPr>
          <p:cNvPr id="5" name="Text 3"/>
          <p:cNvSpPr/>
          <p:nvPr/>
        </p:nvSpPr>
        <p:spPr>
          <a:xfrm>
            <a:off x="793790" y="4073843"/>
            <a:ext cx="13042821" cy="297656"/>
          </a:xfrm>
          <a:prstGeom prst="rect">
            <a:avLst/>
          </a:prstGeom>
          <a:noFill/>
          <a:ln/>
        </p:spPr>
        <p:txBody>
          <a:bodyPr wrap="none" lIns="0" tIns="0" rIns="0" bIns="0" rtlCol="0" anchor="t"/>
          <a:lstStyle/>
          <a:p>
            <a:pPr marL="0" indent="0" algn="ctr">
              <a:lnSpc>
                <a:spcPts val="2300"/>
              </a:lnSpc>
              <a:buNone/>
            </a:pPr>
            <a:r>
              <a:rPr lang="en-US" sz="1550" dirty="0">
                <a:solidFill>
                  <a:srgbClr val="384653"/>
                </a:solidFill>
                <a:latin typeface="Roboto" pitchFamily="34" charset="0"/>
                <a:ea typeface="Roboto" pitchFamily="34" charset="-122"/>
                <a:cs typeface="Roboto" pitchFamily="34" charset="-120"/>
              </a:rPr>
              <a:t>Area Under the Curve demonstrating strong discriminative ability</a:t>
            </a:r>
            <a:endParaRPr lang="en-US" sz="1550" dirty="0"/>
          </a:p>
        </p:txBody>
      </p:sp>
      <p:sp>
        <p:nvSpPr>
          <p:cNvPr id="6" name="Text 4"/>
          <p:cNvSpPr/>
          <p:nvPr/>
        </p:nvSpPr>
        <p:spPr>
          <a:xfrm>
            <a:off x="793790" y="4594741"/>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The final model achieved a good performance level with an </a:t>
            </a:r>
            <a:r>
              <a:rPr lang="en-US" sz="1550" b="1" dirty="0">
                <a:solidFill>
                  <a:srgbClr val="95CCDA"/>
                </a:solidFill>
                <a:latin typeface="Roboto" pitchFamily="34" charset="0"/>
                <a:ea typeface="Roboto" pitchFamily="34" charset="-122"/>
                <a:cs typeface="Roboto" pitchFamily="34" charset="-120"/>
              </a:rPr>
              <a:t>AUC score of 0.78</a:t>
            </a:r>
            <a:r>
              <a:rPr lang="en-US" sz="1550" dirty="0">
                <a:solidFill>
                  <a:srgbClr val="384653"/>
                </a:solidFill>
                <a:latin typeface="Roboto" pitchFamily="34" charset="0"/>
                <a:ea typeface="Roboto" pitchFamily="34" charset="-122"/>
                <a:cs typeface="Roboto" pitchFamily="34" charset="-120"/>
              </a:rPr>
              <a:t>. This score indicates that the model can successfully classify 78% of the positive cases (at-risk students) and 22% of the negative cases. While these results are strong, the analysis highlights that there is still room for further improvement through additional feature engineering or ensemble methods.</a:t>
            </a:r>
            <a:endParaRPr lang="en-US" sz="1550" dirty="0"/>
          </a:p>
        </p:txBody>
      </p:sp>
      <p:sp>
        <p:nvSpPr>
          <p:cNvPr id="7" name="Text 5"/>
          <p:cNvSpPr/>
          <p:nvPr/>
        </p:nvSpPr>
        <p:spPr>
          <a:xfrm>
            <a:off x="793790" y="5710952"/>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An AUC of 0.78 represents a meaningful improvement over random guessing (AUC of 0.5) and demonstrates practical utility for identifying students who would benefit from intervention. However, the model's performance suggests opportunities for enhancement through more sophisticated feature engineering, incorporation of additional data sources, or advanced ensemble techniques that combine multiple classifiers.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2" name="Text 0"/>
          <p:cNvSpPr/>
          <p:nvPr/>
        </p:nvSpPr>
        <p:spPr>
          <a:xfrm>
            <a:off x="793790" y="1325404"/>
            <a:ext cx="7881104" cy="620078"/>
          </a:xfrm>
          <a:prstGeom prst="rect">
            <a:avLst/>
          </a:prstGeom>
          <a:noFill/>
          <a:ln/>
        </p:spPr>
        <p:txBody>
          <a:bodyPr wrap="none" lIns="0" tIns="0" rIns="0" bIns="0" rtlCol="0" anchor="t"/>
          <a:lstStyle/>
          <a:p>
            <a:pPr marL="0" indent="0" algn="l">
              <a:lnSpc>
                <a:spcPts val="4850"/>
              </a:lnSpc>
              <a:buNone/>
            </a:pPr>
            <a:r>
              <a:rPr lang="en-US" sz="3900" dirty="0">
                <a:solidFill>
                  <a:srgbClr val="2E3C4E"/>
                </a:solidFill>
                <a:latin typeface="Host Grotesk Medium" pitchFamily="34" charset="0"/>
                <a:ea typeface="Host Grotesk Medium" pitchFamily="34" charset="-122"/>
                <a:cs typeface="Host Grotesk Medium" pitchFamily="34" charset="-120"/>
              </a:rPr>
              <a:t>Conclusion and Recommendations</a:t>
            </a:r>
            <a:endParaRPr lang="en-US" sz="3900" dirty="0"/>
          </a:p>
        </p:txBody>
      </p:sp>
      <p:sp>
        <p:nvSpPr>
          <p:cNvPr id="3" name="Shape 1"/>
          <p:cNvSpPr/>
          <p:nvPr/>
        </p:nvSpPr>
        <p:spPr>
          <a:xfrm>
            <a:off x="793790" y="2342317"/>
            <a:ext cx="4215289" cy="2031802"/>
          </a:xfrm>
          <a:prstGeom prst="roundRect">
            <a:avLst>
              <a:gd name="adj" fmla="val 4103"/>
            </a:avLst>
          </a:prstGeom>
          <a:solidFill>
            <a:srgbClr val="D9EDF2"/>
          </a:solidFill>
          <a:ln w="7620">
            <a:solidFill>
              <a:srgbClr val="BFD3D8"/>
            </a:solidFill>
            <a:prstDash val="solid"/>
          </a:ln>
        </p:spPr>
      </p:sp>
      <p:sp>
        <p:nvSpPr>
          <p:cNvPr id="4" name="Text 2"/>
          <p:cNvSpPr/>
          <p:nvPr/>
        </p:nvSpPr>
        <p:spPr>
          <a:xfrm>
            <a:off x="999768" y="2548295"/>
            <a:ext cx="2497217"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Effective Identification</a:t>
            </a:r>
            <a:endParaRPr lang="en-US" sz="1950" dirty="0"/>
          </a:p>
        </p:txBody>
      </p:sp>
      <p:sp>
        <p:nvSpPr>
          <p:cNvPr id="5" name="Text 3"/>
          <p:cNvSpPr/>
          <p:nvPr/>
        </p:nvSpPr>
        <p:spPr>
          <a:xfrm>
            <a:off x="999768" y="2977515"/>
            <a:ext cx="3803333"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Supervised machine learning effectively identifies students at risk of dropping out by analyzing a combination of academic, demographic, and economic factors.</a:t>
            </a:r>
            <a:endParaRPr lang="en-US" sz="1550" dirty="0"/>
          </a:p>
        </p:txBody>
      </p:sp>
      <p:sp>
        <p:nvSpPr>
          <p:cNvPr id="6" name="Shape 4"/>
          <p:cNvSpPr/>
          <p:nvPr/>
        </p:nvSpPr>
        <p:spPr>
          <a:xfrm>
            <a:off x="5207437" y="2342317"/>
            <a:ext cx="4215408" cy="2031802"/>
          </a:xfrm>
          <a:prstGeom prst="roundRect">
            <a:avLst>
              <a:gd name="adj" fmla="val 4103"/>
            </a:avLst>
          </a:prstGeom>
          <a:solidFill>
            <a:srgbClr val="D9EDF2"/>
          </a:solidFill>
          <a:ln w="7620">
            <a:solidFill>
              <a:srgbClr val="BFD3D8"/>
            </a:solidFill>
            <a:prstDash val="solid"/>
          </a:ln>
        </p:spPr>
      </p:sp>
      <p:sp>
        <p:nvSpPr>
          <p:cNvPr id="7" name="Text 5"/>
          <p:cNvSpPr/>
          <p:nvPr/>
        </p:nvSpPr>
        <p:spPr>
          <a:xfrm>
            <a:off x="5413415" y="2548295"/>
            <a:ext cx="2533412"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Targeted Interventions</a:t>
            </a:r>
            <a:endParaRPr lang="en-US" sz="1950" dirty="0"/>
          </a:p>
        </p:txBody>
      </p:sp>
      <p:sp>
        <p:nvSpPr>
          <p:cNvPr id="8" name="Text 6"/>
          <p:cNvSpPr/>
          <p:nvPr/>
        </p:nvSpPr>
        <p:spPr>
          <a:xfrm>
            <a:off x="5413415" y="2977515"/>
            <a:ext cx="3803452"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Higher education institutions should focus intervention efforts on male students and non-traditional students (aged 25+) who show higher attrition rates.</a:t>
            </a:r>
            <a:endParaRPr lang="en-US" sz="1550" dirty="0"/>
          </a:p>
        </p:txBody>
      </p:sp>
      <p:sp>
        <p:nvSpPr>
          <p:cNvPr id="9" name="Shape 7"/>
          <p:cNvSpPr/>
          <p:nvPr/>
        </p:nvSpPr>
        <p:spPr>
          <a:xfrm>
            <a:off x="9621203" y="2342317"/>
            <a:ext cx="4215289" cy="2031802"/>
          </a:xfrm>
          <a:prstGeom prst="roundRect">
            <a:avLst>
              <a:gd name="adj" fmla="val 4103"/>
            </a:avLst>
          </a:prstGeom>
          <a:solidFill>
            <a:srgbClr val="D9EDF2"/>
          </a:solidFill>
          <a:ln w="7620">
            <a:solidFill>
              <a:srgbClr val="BFD3D8"/>
            </a:solidFill>
            <a:prstDash val="solid"/>
          </a:ln>
        </p:spPr>
      </p:sp>
      <p:sp>
        <p:nvSpPr>
          <p:cNvPr id="10" name="Text 8"/>
          <p:cNvSpPr/>
          <p:nvPr/>
        </p:nvSpPr>
        <p:spPr>
          <a:xfrm>
            <a:off x="9827181" y="254829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84653"/>
                </a:solidFill>
                <a:latin typeface="Host Grotesk Medium" pitchFamily="34" charset="0"/>
                <a:ea typeface="Host Grotesk Medium" pitchFamily="34" charset="-122"/>
                <a:cs typeface="Host Grotesk Medium" pitchFamily="34" charset="-120"/>
              </a:rPr>
              <a:t>Real-Time Monitoring</a:t>
            </a:r>
            <a:endParaRPr lang="en-US" sz="1950" dirty="0"/>
          </a:p>
        </p:txBody>
      </p:sp>
      <p:sp>
        <p:nvSpPr>
          <p:cNvPr id="11" name="Text 9"/>
          <p:cNvSpPr/>
          <p:nvPr/>
        </p:nvSpPr>
        <p:spPr>
          <a:xfrm>
            <a:off x="9827181" y="2977515"/>
            <a:ext cx="3803333"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Future work could involve real-time monitoring of student grades in the first semester to deploy support systems before the dropout occurs.</a:t>
            </a:r>
            <a:endParaRPr lang="en-US" sz="1550" dirty="0"/>
          </a:p>
        </p:txBody>
      </p:sp>
      <p:sp>
        <p:nvSpPr>
          <p:cNvPr id="12" name="Text 10"/>
          <p:cNvSpPr/>
          <p:nvPr/>
        </p:nvSpPr>
        <p:spPr>
          <a:xfrm>
            <a:off x="793790" y="4597360"/>
            <a:ext cx="13042821" cy="892969"/>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This project demonstrates the practical application of machine learning to address a critical challenge in higher education. By identifying at-risk students early, institutions can deploy targeted support systems including academic counseling, financial aid, and peer mentoring programs. The findings suggest particular attention should be paid to male students and non-traditional students who enroll in their mid-20s to early 30s.</a:t>
            </a:r>
            <a:endParaRPr lang="en-US" sz="1550" dirty="0"/>
          </a:p>
        </p:txBody>
      </p:sp>
      <p:sp>
        <p:nvSpPr>
          <p:cNvPr id="13" name="Text 11"/>
          <p:cNvSpPr/>
          <p:nvPr/>
        </p:nvSpPr>
        <p:spPr>
          <a:xfrm>
            <a:off x="793790" y="5713571"/>
            <a:ext cx="13042821" cy="1190625"/>
          </a:xfrm>
          <a:prstGeom prst="rect">
            <a:avLst/>
          </a:prstGeom>
          <a:noFill/>
          <a:ln/>
        </p:spPr>
        <p:txBody>
          <a:bodyPr wrap="square" lIns="0" tIns="0" rIns="0" bIns="0" rtlCol="0" anchor="t"/>
          <a:lstStyle/>
          <a:p>
            <a:pPr marL="0" indent="0" algn="l">
              <a:lnSpc>
                <a:spcPts val="2300"/>
              </a:lnSpc>
              <a:buNone/>
            </a:pPr>
            <a:r>
              <a:rPr lang="en-US" sz="1550" dirty="0">
                <a:solidFill>
                  <a:srgbClr val="384653"/>
                </a:solidFill>
                <a:latin typeface="Roboto" pitchFamily="34" charset="0"/>
                <a:ea typeface="Roboto" pitchFamily="34" charset="-122"/>
                <a:cs typeface="Roboto" pitchFamily="34" charset="-120"/>
              </a:rPr>
              <a:t>Future research directions include implementing real-time monitoring systems that track first-semester performance indicators, developing personalized intervention strategies based on individual student profiles, and conducting longitudinal studies to measure the impact of interventions on actual dropout rates. The model framework established in this project provides a foundation for ongoing refinement and expansion as additional data becomes available.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1280</Words>
  <Application>Microsoft Office PowerPoint</Application>
  <PresentationFormat>Custom</PresentationFormat>
  <Paragraphs>95</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Roboto</vt:lpstr>
      <vt:lpstr>Arial</vt:lpstr>
      <vt:lpstr>Host Grotesk Medium</vt:lpstr>
      <vt:lpstr>Host Grotesk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Navneet Kumar</cp:lastModifiedBy>
  <cp:revision>2</cp:revision>
  <dcterms:created xsi:type="dcterms:W3CDTF">2026-03-30T14:13:10Z</dcterms:created>
  <dcterms:modified xsi:type="dcterms:W3CDTF">2026-03-30T17:07:45Z</dcterms:modified>
</cp:coreProperties>
</file>